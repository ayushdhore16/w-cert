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461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48256" y="1033272"/>
            <a:ext cx="2003239" cy="256032"/>
          </a:xfrm>
          <a:prstGeom prst="rect">
            <a:avLst/>
          </a:prstGeom>
          <a:solidFill>
            <a:srgbClr val="001A2E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37121" y="1042416"/>
            <a:ext cx="2221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D4"/>
                </a:solidFill>
              </a:rPr>
              <a:t>SECURE &amp; ENCRYPTED REPORTING CHANNEL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8321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kern="0" spc="80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W-CERT</a:t>
            </a:r>
            <a:endParaRPr lang="en-US" sz="8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C4D8"/>
                </a:solidFill>
              </a:rPr>
              <a:t>Women-Centric Cyber Emergency Response &amp; Threat-analysis Framework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0D4D4"/>
                </a:solidFill>
              </a:rPr>
              <a:t>DETECT.    DEFEND.    EMPOWER.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3438144"/>
            <a:ext cx="4572000" cy="27432"/>
          </a:xfrm>
          <a:prstGeom prst="rect">
            <a:avLst/>
          </a:prstGeom>
          <a:solidFill>
            <a:srgbClr val="1A2E48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5112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Nishinth Venkatesh  •  Ayush Dhore  •  Neel Karnavat  •  Sarthak Anil Paymode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Group No. 6  |  Panel B  |  MIT World Peace University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4320" y="4988052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</a:rPr>
              <a:t>Department of Computer Engineering &amp; Technology  |  Capstone Project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420624"/>
            <a:ext cx="54864" cy="40233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Objectives &amp; Scope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530352" cy="658368"/>
          </a:xfrm>
          <a:prstGeom prst="rect">
            <a:avLst/>
          </a:prstGeom>
          <a:solidFill>
            <a:srgbClr val="00444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530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D4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64008" cy="65836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996696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Design a secure, anonymous incident reporting system for women facing phishing &amp; social engineering attacks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8412480" cy="658368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709928"/>
            <a:ext cx="530352" cy="658368"/>
          </a:xfrm>
          <a:prstGeom prst="rect">
            <a:avLst/>
          </a:prstGeom>
          <a:solidFill>
            <a:srgbClr val="00444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709928"/>
            <a:ext cx="530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D4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1709928"/>
            <a:ext cx="64008" cy="65836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1746504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Build an AI-assisted threat analysis engine to classify attacks and assign severity (Low / Medium / High / Critical)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459736"/>
            <a:ext cx="8412480" cy="658368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459736"/>
            <a:ext cx="530352" cy="658368"/>
          </a:xfrm>
          <a:prstGeom prst="rect">
            <a:avLst/>
          </a:prstGeom>
          <a:solidFill>
            <a:srgbClr val="00444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459736"/>
            <a:ext cx="530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D4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2459736"/>
            <a:ext cx="64008" cy="65836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2496312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Implement forensics-friendly evidence management using SHA-256 hashing and timestamping for data integrity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209544"/>
            <a:ext cx="8412480" cy="658368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209544"/>
            <a:ext cx="530352" cy="658368"/>
          </a:xfrm>
          <a:prstGeom prst="rect">
            <a:avLst/>
          </a:prstGeom>
          <a:solidFill>
            <a:srgbClr val="00444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209544"/>
            <a:ext cx="530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D4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3209544"/>
            <a:ext cx="64008" cy="65836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5840" y="3246120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Develop a Role-Based Access Control (RBAC) analyst dashboard for structured incident triage and monitoring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3959352"/>
            <a:ext cx="8412480" cy="658368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959352"/>
            <a:ext cx="530352" cy="658368"/>
          </a:xfrm>
          <a:prstGeom prst="rect">
            <a:avLst/>
          </a:prstGeom>
          <a:solidFill>
            <a:srgbClr val="00444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959352"/>
            <a:ext cx="530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D4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3959352"/>
            <a:ext cx="64008" cy="65836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05840" y="3995928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4D8"/>
                </a:solidFill>
              </a:rPr>
              <a:t>Simulate real-world CERT operational processes within a scoped, privacy-preserving threat environment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11480" y="467258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D4"/>
                </a:solidFill>
              </a:rPr>
              <a:t>Scope: Web-based system  |  Phishing &amp; Social Engineering threats only  |  Privacy-first design  |  Role-based multi-user access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4988052"/>
            <a:ext cx="6400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AA"/>
                </a:solidFill>
              </a:rPr>
              <a:t>W-CERT  |  Women-Centric Cyber Emergency Response &amp; Threat-analysis Framework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400800" y="4988052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AA"/>
                </a:solidFill>
              </a:rPr>
              <a:t>Capstone Project  |  MIT World Peace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420624"/>
            <a:ext cx="54864" cy="402336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Problem Statement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2697480" cy="3246120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2697480" cy="640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53312" y="1115568"/>
            <a:ext cx="685800" cy="685800"/>
          </a:xfrm>
          <a:prstGeom prst="rect">
            <a:avLst/>
          </a:prstGeom>
          <a:solidFill>
            <a:srgbClr val="3A0A0A"/>
          </a:solidFill>
          <a:ln w="254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53312" y="11155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040"/>
                </a:solidFill>
              </a:rPr>
              <a:t>P1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" y="192024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Rising Cyber Threats on Women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" y="2487168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</a:rPr>
              <a:t>Phishing &amp; social engineering attacks exploit trust, urgency, and social manipulation — causing financial, identity, and psychological harm to women at disproportionate rates.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97480" cy="3246120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697480" cy="640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06240" y="1115568"/>
            <a:ext cx="685800" cy="685800"/>
          </a:xfrm>
          <a:prstGeom prst="rect">
            <a:avLst/>
          </a:prstGeom>
          <a:solidFill>
            <a:srgbClr val="3A0A0A"/>
          </a:solidFill>
          <a:ln w="254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0" y="11155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040"/>
                </a:solidFill>
              </a:rPr>
              <a:t>P2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192024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Fragmented Reporting Systems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2487168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</a:rPr>
              <a:t>Current cybercrime portals are fragmented, reactive, and slow. They fail to prioritize incidents based on actual risk severity or provide any victim-centric, privacy-preserving experience.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53328" y="960120"/>
            <a:ext cx="2697480" cy="3246120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53328" y="960120"/>
            <a:ext cx="2697480" cy="640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59168" y="1115568"/>
            <a:ext cx="685800" cy="685800"/>
          </a:xfrm>
          <a:prstGeom prst="rect">
            <a:avLst/>
          </a:prstGeom>
          <a:solidFill>
            <a:srgbClr val="3A0A0A"/>
          </a:solidFill>
          <a:ln w="254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59168" y="11155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040"/>
                </a:solidFill>
              </a:rPr>
              <a:t>P3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90488" y="192024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No Dedicated Response Framework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90488" y="2487168"/>
            <a:ext cx="2423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</a:rPr>
              <a:t>No mini-CERT system specifically addresses phishing and social engineering attacks on women with structured triage, evidence management, and role-based analyst workflows.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4325112"/>
            <a:ext cx="8449056" cy="548640"/>
          </a:xfrm>
          <a:prstGeom prst="rect">
            <a:avLst/>
          </a:prstGeom>
          <a:solidFill>
            <a:srgbClr val="3A0A0A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352544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0C4D8"/>
                </a:solidFill>
              </a:rPr>
              <a:t>W-CERT directly addresses all three gaps — building a practical, privacy-first cyber incident response system designed specifically for women.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988052"/>
            <a:ext cx="6400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AA"/>
                </a:solidFill>
              </a:rPr>
              <a:t>W-CERT  |  Women-Centric Cyber Emergency Response &amp; Threat-analysis Framework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400800" y="4988052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AA"/>
                </a:solidFill>
              </a:rPr>
              <a:t>Capstone Project  |  MIT World Peace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420624"/>
            <a:ext cx="54864" cy="40233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What is W-CERT?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572000" cy="3931920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W-CERT is a mini-CERT cybersecurity incident response system designed exclusively for phishing and social engineering attacks targeting women.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" y="1819656"/>
            <a:ext cx="438912" cy="384048"/>
          </a:xfrm>
          <a:prstGeom prst="rect">
            <a:avLst/>
          </a:prstGeom>
          <a:solidFill>
            <a:srgbClr val="001A2E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819656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D4"/>
                </a:solidFill>
              </a:rPr>
              <a:t>RPT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18379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Secure incident intake with AES encryption &amp; evidence upload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2313432"/>
            <a:ext cx="438912" cy="384048"/>
          </a:xfrm>
          <a:prstGeom prst="rect">
            <a:avLst/>
          </a:prstGeom>
          <a:solidFill>
            <a:srgbClr val="001A2E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313432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</a:rPr>
              <a:t>AI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AI-powered threat analysis for phishing &amp; social engineering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2807208"/>
            <a:ext cx="438912" cy="384048"/>
          </a:xfrm>
          <a:prstGeom prst="rect">
            <a:avLst/>
          </a:prstGeom>
          <a:solidFill>
            <a:srgbClr val="001A2E"/>
          </a:solidFill>
          <a:ln w="127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807208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C77"/>
                </a:solidFill>
              </a:rPr>
              <a:t>TRG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05840" y="28254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Severity-driven triage: Low / Medium / High / Critical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3300984"/>
            <a:ext cx="438912" cy="384048"/>
          </a:xfrm>
          <a:prstGeom prst="rect">
            <a:avLst/>
          </a:prstGeom>
          <a:solidFill>
            <a:srgbClr val="001A2E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3300984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D4"/>
                </a:solidFill>
              </a:rPr>
              <a:t>EVD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05840" y="33192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Forensics-friendly evidence management (hashing + timestamps)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3794760"/>
            <a:ext cx="438912" cy="384048"/>
          </a:xfrm>
          <a:prstGeom prst="rect">
            <a:avLst/>
          </a:prstGeom>
          <a:solidFill>
            <a:srgbClr val="001A2E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379476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4040"/>
                </a:solidFill>
              </a:rPr>
              <a:t>RBK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05840" y="3813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Role-based dashboard for Admin &amp; Analyst workflows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" y="4288536"/>
            <a:ext cx="438912" cy="384048"/>
          </a:xfrm>
          <a:prstGeom prst="rect">
            <a:avLst/>
          </a:prstGeom>
          <a:solidFill>
            <a:srgbClr val="001A2E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4288536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0C4D8"/>
                </a:solidFill>
              </a:rPr>
              <a:t>PVT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05840" y="43068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</a:rPr>
              <a:t>Full victim anonymity &amp; data confidentiality preserved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02352" y="912290"/>
            <a:ext cx="3694176" cy="1627632"/>
          </a:xfrm>
          <a:prstGeom prst="rect">
            <a:avLst/>
          </a:prstGeom>
          <a:solidFill>
            <a:srgbClr val="001A2E"/>
          </a:solidFill>
          <a:ln w="254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02352" y="1097280"/>
            <a:ext cx="3694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kern="0" spc="400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W-CERT</a:t>
            </a:r>
            <a:endParaRPr lang="en-US" sz="4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02352" y="1837944"/>
            <a:ext cx="3694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D4D4"/>
                </a:solidFill>
              </a:rPr>
              <a:t>Women-Centric Cyber Emergency Response Team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38928" y="2743200"/>
            <a:ext cx="1764792" cy="384048"/>
          </a:xfrm>
          <a:prstGeom prst="rect">
            <a:avLst/>
          </a:prstGeom>
          <a:solidFill>
            <a:srgbClr val="0C1525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38928" y="2743200"/>
            <a:ext cx="1764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D4"/>
                </a:solidFill>
              </a:rPr>
              <a:t>Cyber Security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04304" y="2743200"/>
            <a:ext cx="1764792" cy="384048"/>
          </a:xfrm>
          <a:prstGeom prst="rect">
            <a:avLst/>
          </a:prstGeom>
          <a:solidFill>
            <a:srgbClr val="0C1525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04304" y="2743200"/>
            <a:ext cx="1764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D4"/>
                </a:solidFill>
              </a:rPr>
              <a:t>Incident Response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38928" y="3255264"/>
            <a:ext cx="1764792" cy="384048"/>
          </a:xfrm>
          <a:prstGeom prst="rect">
            <a:avLst/>
          </a:prstGeom>
          <a:solidFill>
            <a:srgbClr val="0C1525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38928" y="3255264"/>
            <a:ext cx="1764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D4"/>
                </a:solidFill>
              </a:rPr>
              <a:t>Threat Intelligence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04304" y="3255264"/>
            <a:ext cx="1764792" cy="384048"/>
          </a:xfrm>
          <a:prstGeom prst="rect">
            <a:avLst/>
          </a:prstGeom>
          <a:solidFill>
            <a:srgbClr val="0C1525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04304" y="3255264"/>
            <a:ext cx="1764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D4"/>
                </a:solidFill>
              </a:rPr>
              <a:t>Artificial Intelligence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02352" y="3858768"/>
            <a:ext cx="3694176" cy="512064"/>
          </a:xfrm>
          <a:prstGeom prst="rect">
            <a:avLst/>
          </a:prstGeom>
          <a:solidFill>
            <a:srgbClr val="002A18"/>
          </a:solidFill>
          <a:ln w="127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02352" y="3858768"/>
            <a:ext cx="36941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C77"/>
                </a:solidFill>
              </a:rPr>
              <a:t>INHOUSE PROJECT  |  MIT World Peace University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4988052"/>
            <a:ext cx="6400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AA"/>
                </a:solidFill>
              </a:rPr>
              <a:t>W-CERT  |  Women-Centric Cyber Emergency Response &amp; Threat-analysis Framework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400800" y="4988052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AA"/>
                </a:solidFill>
              </a:rPr>
              <a:t>Capstone Project  |  MIT World Peace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420624"/>
            <a:ext cx="54864" cy="40233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System Architecture — High Level Design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01168" y="987552"/>
            <a:ext cx="822960" cy="1005840"/>
          </a:xfrm>
          <a:prstGeom prst="rect">
            <a:avLst/>
          </a:prstGeom>
          <a:solidFill>
            <a:srgbClr val="001A2E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987552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D4"/>
                </a:solidFill>
              </a:rPr>
              <a:t>PRESENTATION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0D4D4"/>
                </a:solidFill>
              </a:rPr>
              <a:t>LAYER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01168" y="2121408"/>
            <a:ext cx="822960" cy="1005840"/>
          </a:xfrm>
          <a:prstGeom prst="rect">
            <a:avLst/>
          </a:prstGeom>
          <a:solidFill>
            <a:srgbClr val="001A2E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" y="2121408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</a:rPr>
              <a:t>APPLICATION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</a:rPr>
              <a:t>LAYER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1168" y="3255264"/>
            <a:ext cx="822960" cy="1005840"/>
          </a:xfrm>
          <a:prstGeom prst="rect">
            <a:avLst/>
          </a:prstGeom>
          <a:solidFill>
            <a:srgbClr val="001A2E"/>
          </a:solidFill>
          <a:ln w="127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1168" y="3255264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C77"/>
                </a:solidFill>
              </a:rPr>
              <a:t>DATA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00CC77"/>
                </a:solidFill>
              </a:rPr>
              <a:t>LAYER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78992" y="960120"/>
            <a:ext cx="27432" cy="3337560"/>
          </a:xfrm>
          <a:prstGeom prst="rect">
            <a:avLst/>
          </a:prstGeom>
          <a:solidFill>
            <a:srgbClr val="1A2E48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234440" y="1005840"/>
            <a:ext cx="2286000" cy="91440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34440" y="1005840"/>
            <a:ext cx="2286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25880" y="111556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Web Interface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(HTML/CSS/JS)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1005840"/>
            <a:ext cx="2286000" cy="91440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49040" y="1005840"/>
            <a:ext cx="2286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0" y="111556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Report Incident Form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(3-step secure flow)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1005840"/>
            <a:ext cx="2286000" cy="91440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1005840"/>
            <a:ext cx="2286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55080" y="1115568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Analyst 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(Admin / Analyst)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36192" y="1920240"/>
            <a:ext cx="91440" cy="54864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463040" y="1956816"/>
            <a:ext cx="237744" cy="164592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50792" y="1920240"/>
            <a:ext cx="91440" cy="54864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977640" y="1956816"/>
            <a:ext cx="237744" cy="164592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65392" y="1920240"/>
            <a:ext cx="91440" cy="54864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92240" y="1956816"/>
            <a:ext cx="237744" cy="164592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234440" y="2139696"/>
            <a:ext cx="2286000" cy="1005840"/>
          </a:xfrm>
          <a:prstGeom prst="rect">
            <a:avLst/>
          </a:prstGeom>
          <a:solidFill>
            <a:srgbClr val="0F1A2E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234440" y="2139696"/>
            <a:ext cx="2286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25880" y="2249424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Threat Analysis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Engine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(Rule-based + AI)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49040" y="2139696"/>
            <a:ext cx="2286000" cy="1005840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749040" y="2139696"/>
            <a:ext cx="2286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0" y="2249424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Evidence Manager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(SHA-256 Hash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Timestamp)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2139696"/>
            <a:ext cx="2286000" cy="1005840"/>
          </a:xfrm>
          <a:prstGeom prst="rect">
            <a:avLst/>
          </a:prstGeom>
          <a:solidFill>
            <a:srgbClr val="0F1A2E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63640" y="2139696"/>
            <a:ext cx="2286000" cy="640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55080" y="2249424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Incident Triage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&amp; RBAC Control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(Access layer)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536192" y="3145536"/>
            <a:ext cx="91440" cy="54864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463040" y="3182112"/>
            <a:ext cx="237744" cy="164592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050792" y="3145536"/>
            <a:ext cx="91440" cy="54864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977640" y="3182112"/>
            <a:ext cx="237744" cy="164592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565392" y="3145536"/>
            <a:ext cx="91440" cy="54864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92240" y="3182112"/>
            <a:ext cx="237744" cy="164592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234440" y="3346704"/>
            <a:ext cx="2286000" cy="914400"/>
          </a:xfrm>
          <a:prstGeom prst="rect">
            <a:avLst/>
          </a:prstGeom>
          <a:solidFill>
            <a:srgbClr val="0F1A2E"/>
          </a:solidFill>
          <a:ln w="127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234440" y="3346704"/>
            <a:ext cx="2286000" cy="64008"/>
          </a:xfrm>
          <a:prstGeom prst="rect">
            <a:avLst/>
          </a:prstGeom>
          <a:solidFill>
            <a:srgbClr val="00CC77"/>
          </a:solidFill>
          <a:ln w="127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325880" y="3456432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Incident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Database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(SQLite / PostgreSQL)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749040" y="3346704"/>
            <a:ext cx="2286000" cy="914400"/>
          </a:xfrm>
          <a:prstGeom prst="rect">
            <a:avLst/>
          </a:prstGeom>
          <a:solidFill>
            <a:srgbClr val="0F1A2E"/>
          </a:solidFill>
          <a:ln w="127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749040" y="3346704"/>
            <a:ext cx="2286000" cy="64008"/>
          </a:xfrm>
          <a:prstGeom prst="rect">
            <a:avLst/>
          </a:prstGeom>
          <a:solidFill>
            <a:srgbClr val="00CC77"/>
          </a:solidFill>
          <a:ln w="127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840480" y="3456432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Evidence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Store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(Encrypted files)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63640" y="3346704"/>
            <a:ext cx="2286000" cy="914400"/>
          </a:xfrm>
          <a:prstGeom prst="rect">
            <a:avLst/>
          </a:prstGeom>
          <a:solidFill>
            <a:srgbClr val="0F1A2E"/>
          </a:solidFill>
          <a:ln w="127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263640" y="3346704"/>
            <a:ext cx="2286000" cy="64008"/>
          </a:xfrm>
          <a:prstGeom prst="rect">
            <a:avLst/>
          </a:prstGeom>
          <a:solidFill>
            <a:srgbClr val="00CC77"/>
          </a:solidFill>
          <a:ln w="127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55080" y="3456432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Audit Log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&amp; Session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Records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01168" y="4370832"/>
            <a:ext cx="8741664" cy="502920"/>
          </a:xfrm>
          <a:prstGeom prst="rect">
            <a:avLst/>
          </a:prstGeom>
          <a:solidFill>
            <a:srgbClr val="001A2E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74320" y="4407408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A8A8"/>
                </a:solidFill>
              </a:rPr>
              <a:t>SECURITY LAYER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463040" y="4434840"/>
            <a:ext cx="1371600" cy="347472"/>
          </a:xfrm>
          <a:prstGeom prst="rect">
            <a:avLst/>
          </a:prstGeom>
          <a:solidFill>
            <a:srgbClr val="004444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463040" y="4434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D4"/>
                </a:solidFill>
              </a:rPr>
              <a:t>HTTPS / TLS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962656" y="4434840"/>
            <a:ext cx="1371600" cy="347472"/>
          </a:xfrm>
          <a:prstGeom prst="rect">
            <a:avLst/>
          </a:prstGeom>
          <a:solidFill>
            <a:srgbClr val="004444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962656" y="4434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D4"/>
                </a:solidFill>
              </a:rPr>
              <a:t>AES Encryption at rest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462272" y="4434840"/>
            <a:ext cx="1371600" cy="347472"/>
          </a:xfrm>
          <a:prstGeom prst="rect">
            <a:avLst/>
          </a:prstGeom>
          <a:solidFill>
            <a:srgbClr val="004444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462272" y="4434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D4"/>
                </a:solidFill>
              </a:rPr>
              <a:t>SHA-256 Evidence Hashing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961888" y="4434840"/>
            <a:ext cx="1371600" cy="347472"/>
          </a:xfrm>
          <a:prstGeom prst="rect">
            <a:avLst/>
          </a:prstGeom>
          <a:solidFill>
            <a:srgbClr val="004444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961888" y="4434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D4"/>
                </a:solidFill>
              </a:rPr>
              <a:t>RBAC Middleware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461504" y="4434840"/>
            <a:ext cx="1371600" cy="347472"/>
          </a:xfrm>
          <a:prstGeom prst="rect">
            <a:avLst/>
          </a:prstGeom>
          <a:solidFill>
            <a:srgbClr val="004444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461504" y="4434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D4"/>
                </a:solidFill>
              </a:rPr>
              <a:t>Anonymous Incident IDs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74320" y="4988052"/>
            <a:ext cx="6400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AA"/>
                </a:solidFill>
              </a:rPr>
              <a:t>W-CERT  |  Women-Centric Cyber Emergency Response &amp; Threat-analysis Framework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400800" y="4988052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AA"/>
                </a:solidFill>
              </a:rPr>
              <a:t>Capstone Project  |  MIT World Peace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420624"/>
            <a:ext cx="54864" cy="40233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System Flow — Victim to Resolution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874520" y="1952244"/>
            <a:ext cx="347472" cy="7315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48840" y="1860804"/>
            <a:ext cx="73152" cy="2560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1600200" cy="1874520"/>
          </a:xfrm>
          <a:prstGeom prst="rect">
            <a:avLst/>
          </a:prstGeom>
          <a:solidFill>
            <a:srgbClr val="0F1A2E"/>
          </a:solidFill>
          <a:ln w="254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16002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1812" y="1188720"/>
            <a:ext cx="585216" cy="585216"/>
          </a:xfrm>
          <a:prstGeom prst="ellipse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8181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D1A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" y="1874520"/>
            <a:ext cx="1453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Victim Reports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3134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Fills 3-step form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Evidence upload (optional)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1952244"/>
            <a:ext cx="347472" cy="7315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86200" y="1860804"/>
            <a:ext cx="73152" cy="2560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11680" y="1051560"/>
            <a:ext cx="1600200" cy="1874520"/>
          </a:xfrm>
          <a:prstGeom prst="rect">
            <a:avLst/>
          </a:prstGeom>
          <a:solidFill>
            <a:srgbClr val="0F1A2E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1051560"/>
            <a:ext cx="16002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19172" y="1188720"/>
            <a:ext cx="585216" cy="5852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1917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D1A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84832" y="1874520"/>
            <a:ext cx="1453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Encryption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03120" y="23134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AES encrypt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SHA-256 hash evidence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49240" y="1952244"/>
            <a:ext cx="347472" cy="7315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23560" y="1860804"/>
            <a:ext cx="73152" cy="2560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49040" y="1051560"/>
            <a:ext cx="1600200" cy="1874520"/>
          </a:xfrm>
          <a:prstGeom prst="rect">
            <a:avLst/>
          </a:prstGeom>
          <a:solidFill>
            <a:srgbClr val="0F1A2E"/>
          </a:solidFill>
          <a:ln w="254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749040" y="1051560"/>
            <a:ext cx="1600200" cy="640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56532" y="1188720"/>
            <a:ext cx="585216" cy="585216"/>
          </a:xfrm>
          <a:prstGeom prst="ellipse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5653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D1A"/>
                </a:solidFill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22192" y="1874520"/>
            <a:ext cx="1453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AI Classification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0" y="23134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Rule engine detects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Attack type &amp; severity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86600" y="1952244"/>
            <a:ext cx="347472" cy="7315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60920" y="1860804"/>
            <a:ext cx="73152" cy="2560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400" y="1051560"/>
            <a:ext cx="1600200" cy="1874520"/>
          </a:xfrm>
          <a:prstGeom prst="rect">
            <a:avLst/>
          </a:prstGeom>
          <a:solidFill>
            <a:srgbClr val="0F1A2E"/>
          </a:solidFill>
          <a:ln w="254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0" y="1051560"/>
            <a:ext cx="1600200" cy="64008"/>
          </a:xfrm>
          <a:prstGeom prst="rect">
            <a:avLst/>
          </a:prstGeom>
          <a:solidFill>
            <a:srgbClr val="00CC77"/>
          </a:solidFill>
          <a:ln w="127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93892" y="1188720"/>
            <a:ext cx="585216" cy="585216"/>
          </a:xfrm>
          <a:prstGeom prst="ellipse">
            <a:avLst/>
          </a:prstGeom>
          <a:solidFill>
            <a:srgbClr val="00CC77"/>
          </a:solidFill>
          <a:ln w="127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9389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D1A"/>
                </a:solidFill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59552" y="1874520"/>
            <a:ext cx="1453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Incident Created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77840" y="23134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Unique ID assigned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Timestamp + stored in DB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23760" y="1051560"/>
            <a:ext cx="1600200" cy="1874520"/>
          </a:xfrm>
          <a:prstGeom prst="rect">
            <a:avLst/>
          </a:prstGeom>
          <a:solidFill>
            <a:srgbClr val="0F1A2E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223760" y="1051560"/>
            <a:ext cx="16002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731252" y="1188720"/>
            <a:ext cx="585216" cy="5852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31252" y="118872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0D1A"/>
                </a:solidFill>
              </a:rPr>
              <a:t>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296912" y="1874520"/>
            <a:ext cx="1453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Analyst Reviews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315200" y="23134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RBAC dashboard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C4D8"/>
                </a:solidFill>
              </a:rPr>
              <a:t>Triage &amp; prioritize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154680"/>
            <a:ext cx="8595360" cy="64008"/>
          </a:xfrm>
          <a:prstGeom prst="rect">
            <a:avLst/>
          </a:prstGeom>
          <a:solidFill>
            <a:srgbClr val="1A2E48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4320" y="331012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0C4D8"/>
                </a:solidFill>
              </a:rPr>
              <a:t>Incident Outcome States: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675888"/>
            <a:ext cx="192024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36758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D1A"/>
                </a:solidFill>
              </a:rPr>
              <a:t>OPEN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31720" y="3675888"/>
            <a:ext cx="1920240" cy="4572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331720" y="36758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D1A"/>
                </a:solidFill>
              </a:rPr>
              <a:t>ESCALATED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89120" y="3675888"/>
            <a:ext cx="1920240" cy="4572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389120" y="36758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D1A"/>
                </a:solidFill>
              </a:rPr>
              <a:t>INVESTIGATION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46520" y="3675888"/>
            <a:ext cx="2423160" cy="457200"/>
          </a:xfrm>
          <a:prstGeom prst="rect">
            <a:avLst/>
          </a:prstGeom>
          <a:solidFill>
            <a:srgbClr val="00CC77"/>
          </a:solidFill>
          <a:ln w="127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46520" y="367588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0D1A"/>
                </a:solidFill>
              </a:rPr>
              <a:t>CLOSED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4251960"/>
            <a:ext cx="8595360" cy="621792"/>
          </a:xfrm>
          <a:prstGeom prst="rect">
            <a:avLst/>
          </a:prstGeom>
          <a:solidFill>
            <a:srgbClr val="001A2E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11480" y="4279392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C4D8"/>
                </a:solidFill>
              </a:rPr>
              <a:t>All incidents are logged to the Secure Audit Trail. Evidence integrity is maintained via SHA-256 hashing at every stage. Victim identity remains anonymous throughout.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4320" y="4988052"/>
            <a:ext cx="6400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AA"/>
                </a:solidFill>
              </a:rPr>
              <a:t>W-CERT  |  Women-Centric Cyber Emergency Response &amp; Threat-analysis Framework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400800" y="4988052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AA"/>
                </a:solidFill>
              </a:rPr>
              <a:t>Capstone Project  |  MIT World Peace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420624"/>
            <a:ext cx="54864" cy="40233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Core System Modules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059936" cy="1901952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4059936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" y="1078992"/>
            <a:ext cx="548640" cy="502920"/>
          </a:xfrm>
          <a:prstGeom prst="rect">
            <a:avLst/>
          </a:prstGeom>
          <a:solidFill>
            <a:srgbClr val="001A2E"/>
          </a:solidFill>
          <a:ln w="254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07899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D4"/>
                </a:solidFill>
              </a:rPr>
              <a:t>RPT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1088136"/>
            <a:ext cx="3182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Secure Incident Reporting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12064" y="16550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3-step guided reporting flow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12064" y="19293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Evidence upload: screenshots, PDFs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2064" y="2203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AES encryption + SHA-256 hashing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12064" y="24780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Anonymous victim protection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960120"/>
            <a:ext cx="4059936" cy="1901952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26864" y="960120"/>
            <a:ext cx="4059936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078992"/>
            <a:ext cx="548640" cy="502920"/>
          </a:xfrm>
          <a:prstGeom prst="rect">
            <a:avLst/>
          </a:prstGeom>
          <a:solidFill>
            <a:srgbClr val="001A2E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07899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</a:rPr>
              <a:t>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1088136"/>
            <a:ext cx="3182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Threat Analysis Engine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91456" y="16550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Rule-based Python classifier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91456" y="19293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Phishing &amp; social engineering detection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91456" y="2203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AI-assisted pattern recognition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91456" y="24780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Severity: Low / Med / High / Critical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2953512"/>
            <a:ext cx="4059936" cy="1901952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47472" y="2953512"/>
            <a:ext cx="4059936" cy="64008"/>
          </a:xfrm>
          <a:prstGeom prst="rect">
            <a:avLst/>
          </a:prstGeom>
          <a:solidFill>
            <a:srgbClr val="00CC77"/>
          </a:solidFill>
          <a:ln w="127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" y="3072384"/>
            <a:ext cx="548640" cy="502920"/>
          </a:xfrm>
          <a:prstGeom prst="rect">
            <a:avLst/>
          </a:prstGeom>
          <a:solidFill>
            <a:srgbClr val="001A2E"/>
          </a:solidFill>
          <a:ln w="254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30723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C77"/>
                </a:solidFill>
              </a:rPr>
              <a:t>DSH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5568" y="3081528"/>
            <a:ext cx="3182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Analyst Dashboard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2064" y="36484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Role-based access: Admin / Analyst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2064" y="39227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Live incident monitoring &amp; triage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2064" y="41970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Threat intelligence overview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2064" y="44714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Incident volume &amp; severity charts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26864" y="2953512"/>
            <a:ext cx="4059936" cy="1901952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26864" y="2953512"/>
            <a:ext cx="4059936" cy="640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3072384"/>
            <a:ext cx="548640" cy="502920"/>
          </a:xfrm>
          <a:prstGeom prst="rect">
            <a:avLst/>
          </a:prstGeom>
          <a:solidFill>
            <a:srgbClr val="001A2E"/>
          </a:solidFill>
          <a:ln w="254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307238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040"/>
                </a:solidFill>
              </a:rPr>
              <a:t>EVD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94960" y="3081528"/>
            <a:ext cx="3182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Evidence Management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791456" y="36484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Forensics-friendly file storage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91456" y="39227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Integrity via SHA-256 + timestamp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91456" y="41970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RBAC-controlled document access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91456" y="44714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B0C4D8"/>
                </a:solidFill>
              </a:rPr>
              <a:t>Secure audit trail logging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988052"/>
            <a:ext cx="6400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AA"/>
                </a:solidFill>
              </a:rPr>
              <a:t>W-CERT  |  Women-Centric Cyber Emergency Response &amp; Threat-analysis Framework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400800" y="4988052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AA"/>
                </a:solidFill>
              </a:rPr>
              <a:t>Capstone Project  |  MIT World Peace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420624"/>
            <a:ext cx="54864" cy="40233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Live Screenshots — Public Interface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87952" cy="29260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D4"/>
                </a:solidFill>
              </a:rPr>
              <a:t>HOME PAGE</a:t>
            </a:r>
            <a:endParaRPr lang="en-US" sz="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07008"/>
            <a:ext cx="4187952" cy="2633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1207008"/>
            <a:ext cx="4187952" cy="2633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20040" y="3931920"/>
            <a:ext cx="4187952" cy="914400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0040" y="3931920"/>
            <a:ext cx="64008" cy="9144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" y="3977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D4"/>
                </a:solidFill>
              </a:rPr>
              <a:t>W-CERT Branding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" y="4251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Tagline, incident progress tracker &amp; victim protection badge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90872" y="914400"/>
            <a:ext cx="4187952" cy="29260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36592" y="9144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D4"/>
                </a:solidFill>
              </a:rPr>
              <a:t>SECURE INCIDENT REPORTING (STEP 1/3)</a:t>
            </a:r>
            <a:endParaRPr lang="en-US" sz="8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207008"/>
            <a:ext cx="4187952" cy="263347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690872" y="1207008"/>
            <a:ext cx="4187952" cy="26334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690872" y="3931920"/>
            <a:ext cx="4187952" cy="914400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690872" y="3931920"/>
            <a:ext cx="64008" cy="91440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855464" y="3977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D4"/>
                </a:solidFill>
              </a:rPr>
              <a:t>3-Step Encrypted Form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855464" y="4251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4D8"/>
                </a:solidFill>
              </a:rPr>
              <a:t>Incident description + evidence upload (screenshots, PDFs, emails)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74320" y="4988052"/>
            <a:ext cx="6400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AA"/>
                </a:solidFill>
              </a:rPr>
              <a:t>W-CERT  |  Women-Centric Cyber Emergency Response &amp; Threat-analysis Framework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400800" y="4988052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AA"/>
                </a:solidFill>
              </a:rPr>
              <a:t>Capstone Project  |  MIT World Peace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420624"/>
            <a:ext cx="54864" cy="40233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Live Screenshots — Admin Console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274320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D4"/>
                </a:solidFill>
              </a:rPr>
              <a:t>INCIDENT MANAGEMENT — Analyst Console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8503920" cy="21762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1188720"/>
            <a:ext cx="8503920" cy="217627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20040" y="3456432"/>
            <a:ext cx="2057400" cy="2926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0040" y="345643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D1A"/>
                </a:solidFill>
              </a:rPr>
              <a:t>CRITICAL SEVERITY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0040" y="3749040"/>
            <a:ext cx="2057400" cy="1115568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3785616"/>
            <a:ext cx="18745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Color-coded severity tags: Low / High / Critical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496312" y="3456432"/>
            <a:ext cx="205740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496312" y="345643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D1A"/>
                </a:solidFill>
              </a:rPr>
              <a:t>AI AUTHENTICITY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496312" y="3749040"/>
            <a:ext cx="2057400" cy="1115568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587752" y="3785616"/>
            <a:ext cx="18745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Scoring: 20%–75% authenticity confidence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72584" y="3456432"/>
            <a:ext cx="2057400" cy="2926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672584" y="345643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D1A"/>
                </a:solidFill>
              </a:rPr>
              <a:t>STATUS TRACKING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72584" y="3749040"/>
            <a:ext cx="2057400" cy="1115568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64024" y="3785616"/>
            <a:ext cx="18745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Open / Closed with date &amp; incident ID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848856" y="3456432"/>
            <a:ext cx="2057400" cy="292608"/>
          </a:xfrm>
          <a:prstGeom prst="rect">
            <a:avLst/>
          </a:prstGeom>
          <a:solidFill>
            <a:srgbClr val="00CC77"/>
          </a:solidFill>
          <a:ln w="127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848856" y="345643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0D1A"/>
                </a:solidFill>
              </a:rPr>
              <a:t>SORT &amp; FILTER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48856" y="3749040"/>
            <a:ext cx="2057400" cy="1115568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940296" y="3785616"/>
            <a:ext cx="18745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8"/>
                </a:solidFill>
              </a:rPr>
              <a:t>Sort newest first; filter by type or severity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74320" y="4988052"/>
            <a:ext cx="6400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AA"/>
                </a:solidFill>
              </a:rPr>
              <a:t>W-CERT  |  Women-Centric Cyber Emergency Response &amp; Threat-analysis Framework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400800" y="4988052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AA"/>
                </a:solidFill>
              </a:rPr>
              <a:t>Capstone Project  |  MIT World Peace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420624"/>
            <a:ext cx="54864" cy="40233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Live Screenshots — Dashboard &amp; User Management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956048" cy="274320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4882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D4"/>
                </a:solidFill>
              </a:rPr>
              <a:t>THREAT INTELLIGENCE DASHBOARD</a:t>
            </a:r>
            <a:endParaRPr lang="en-US" sz="8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956048" cy="2761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1188720"/>
            <a:ext cx="4956048" cy="276148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04688" y="914400"/>
            <a:ext cx="3319272" cy="274320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541264" y="914400"/>
            <a:ext cx="3255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D4"/>
                </a:solidFill>
              </a:rPr>
              <a:t>USER MANAGEMENT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8" y="1188720"/>
            <a:ext cx="3319272" cy="1828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504688" y="1188720"/>
            <a:ext cx="3319272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504688" y="3108960"/>
            <a:ext cx="3319272" cy="1024128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596128" y="3163824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Role-Based Access Control (RBAC)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596128" y="3511296"/>
            <a:ext cx="749808" cy="23774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596128" y="3511296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D1A"/>
                </a:solidFill>
              </a:rPr>
              <a:t>ADMIN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419088" y="3511296"/>
            <a:ext cx="23225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Full system access &amp; user management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596128" y="3822192"/>
            <a:ext cx="749808" cy="237744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596128" y="3822192"/>
            <a:ext cx="7498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D1A"/>
                </a:solidFill>
              </a:rPr>
              <a:t>ANALYST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419088" y="3822192"/>
            <a:ext cx="23225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Incident review, escalation &amp; audit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20040" y="4041648"/>
            <a:ext cx="1554480" cy="804672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20040" y="407822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139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320040" y="44256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</a:rPr>
              <a:t>Total Incidents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1993392" y="4041648"/>
            <a:ext cx="1554480" cy="804672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1993392" y="407822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136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1993392" y="44256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</a:rPr>
              <a:t>Pending Review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3666744" y="4041648"/>
            <a:ext cx="1554480" cy="804672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666744" y="407822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C77"/>
                </a:solidFill>
              </a:rPr>
              <a:t>3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3666744" y="44256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AA"/>
                </a:solidFill>
              </a:rPr>
              <a:t>Resolved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274320" y="4988052"/>
            <a:ext cx="6400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AA"/>
                </a:solidFill>
              </a:rPr>
              <a:t>W-CERT  |  Women-Centric Cyber Emergency Response &amp; Threat-analysis Framework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6400800" y="4988052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AA"/>
                </a:solidFill>
              </a:rPr>
              <a:t>Capstone Project  |  MIT World Peace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420624"/>
            <a:ext cx="54864" cy="40233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Technology Stack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2048256" cy="3566160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2048256" cy="502920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96012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70D1A"/>
                </a:solidFill>
              </a:rPr>
              <a:t>FRONTEND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572768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HTML5, CSS3, Bootstrap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249424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JavaScript (Vanilla)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92608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Chart.js / Plotly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02736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3602736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Dark Cyber-themed UI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23744" y="960120"/>
            <a:ext cx="2048256" cy="3566160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23744" y="960120"/>
            <a:ext cx="2048256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23744" y="96012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70D1A"/>
                </a:solidFill>
              </a:rPr>
              <a:t>BACKEND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633472" y="1572768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51760" y="1572768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Python Flask / Django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33472" y="2249424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51760" y="2249424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RESTful API architecture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33472" y="2926080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51760" y="292608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Rule-based threat engine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33472" y="3602736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51760" y="3602736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RBAC middleware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0016" y="960120"/>
            <a:ext cx="2048256" cy="3566160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0016" y="960120"/>
            <a:ext cx="2048256" cy="50292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0016" y="96012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70D1A"/>
                </a:solidFill>
              </a:rPr>
              <a:t>SECURITY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09744" y="1572768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28032" y="1572768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HTTPS / TLS encryption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9744" y="2249424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28032" y="2249424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AES encryption at rest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9744" y="2926080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28032" y="292608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SHA-256 evidence hashing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9744" y="3602736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28032" y="3602736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Anonymized incident IDs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76288" y="960120"/>
            <a:ext cx="2048256" cy="3566160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876288" y="960120"/>
            <a:ext cx="2048256" cy="502920"/>
          </a:xfrm>
          <a:prstGeom prst="rect">
            <a:avLst/>
          </a:prstGeom>
          <a:solidFill>
            <a:srgbClr val="00CC77"/>
          </a:solidFill>
          <a:ln w="12700">
            <a:solidFill>
              <a:srgbClr val="00CC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76288" y="96012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70D1A"/>
                </a:solidFill>
              </a:rPr>
              <a:t>DEV TOOLS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986016" y="1572768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004304" y="1572768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VS Code / PyCharm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86016" y="2249424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004304" y="2249424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Git / GitHub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986016" y="2926080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004304" y="2926080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Postman (API testing)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986016" y="3602736"/>
            <a:ext cx="1828800" cy="566928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004304" y="3602736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SQLite / PostgreSQL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74320" y="4988052"/>
            <a:ext cx="6400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AA"/>
                </a:solidFill>
              </a:rPr>
              <a:t>W-CERT  |  Women-Centric Cyber Emergency Response &amp; Threat-analysis Framework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00800" y="4988052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AA"/>
                </a:solidFill>
              </a:rPr>
              <a:t>Capstone Project  |  MIT World Peace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420624"/>
            <a:ext cx="54864" cy="40233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Literature Review — Key Research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47472" y="932688"/>
            <a:ext cx="8449056" cy="31089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932688"/>
            <a:ext cx="1947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0D1A"/>
                </a:solidFill>
              </a:rPr>
              <a:t>Author(s) &amp; Year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23744" y="932688"/>
            <a:ext cx="3721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0D1A"/>
                </a:solidFill>
              </a:rPr>
              <a:t>Focus Area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382512" y="932688"/>
            <a:ext cx="2368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0D1A"/>
                </a:solidFill>
              </a:rPr>
              <a:t>Gap / Limitation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1243584"/>
            <a:ext cx="8449056" cy="466344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1261872"/>
            <a:ext cx="1965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D4"/>
                </a:solidFill>
              </a:rPr>
              <a:t>Zhuo et al. (2022)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23744" y="1261872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Human-Centered Phishing Susceptibility Model (PSM)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382512" y="1261872"/>
            <a:ext cx="2331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</a:rPr>
              <a:t>Systematic review; no automated response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1737360"/>
            <a:ext cx="8449056" cy="46634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1755648"/>
            <a:ext cx="1965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D4"/>
                </a:solidFill>
              </a:rPr>
              <a:t>Ribeiro et al. (2024)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23744" y="1755648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Eye-tracking study of phishing email attention patterns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82512" y="1755648"/>
            <a:ext cx="2331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</a:rPr>
              <a:t>Small sample; controlled lab only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2231136"/>
            <a:ext cx="8449056" cy="466344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2249424"/>
            <a:ext cx="1965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D4"/>
                </a:solidFill>
              </a:rPr>
              <a:t>Desolda et al. (2022)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23744" y="2249424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Human factors in phishing attacks — Systematic Literature Review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82512" y="2249424"/>
            <a:ext cx="2331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</a:rPr>
              <a:t>Broad survey; no response mechanism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2724912"/>
            <a:ext cx="8449056" cy="46634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2743200"/>
            <a:ext cx="1965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D4"/>
                </a:solidFill>
              </a:rPr>
              <a:t>Marshall (2024)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23744" y="2743200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Evidence for email phishing training outcomes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82512" y="2743200"/>
            <a:ext cx="2331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</a:rPr>
              <a:t>Limited long-term effectiveness data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3218688"/>
            <a:ext cx="8449056" cy="466344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" y="3236976"/>
            <a:ext cx="1965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D4"/>
                </a:solidFill>
              </a:rPr>
              <a:t>Sommestad (2024)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23744" y="3236976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Large-scale phishing susceptibility experiment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82512" y="3236976"/>
            <a:ext cx="2331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</a:rPr>
              <a:t>Focused on variables, not response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" y="3712464"/>
            <a:ext cx="8449056" cy="46634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8912" y="3730752"/>
            <a:ext cx="1965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D4"/>
                </a:solidFill>
              </a:rPr>
              <a:t>Khadka (2024)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23744" y="3730752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Persuasion tactics analysis in phishing content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82512" y="3730752"/>
            <a:ext cx="2331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</a:rPr>
              <a:t>Content-focused; not incident response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7472" y="4206240"/>
            <a:ext cx="8449056" cy="466344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38912" y="4224528"/>
            <a:ext cx="19659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D4"/>
                </a:solidFill>
              </a:rPr>
              <a:t>Frauenstein et al. (2020)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23744" y="4224528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4D8"/>
                </a:solidFill>
              </a:rPr>
              <a:t>Women's phishing susceptibility via survey models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82512" y="4224528"/>
            <a:ext cx="2331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A623"/>
                </a:solidFill>
              </a:rPr>
              <a:t>Not a full incident response framework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988052"/>
            <a:ext cx="6400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AA"/>
                </a:solidFill>
              </a:rPr>
              <a:t>W-CERT  |  Women-Centric Cyber Emergency Response &amp; Threat-analysis Framework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400800" y="4988052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AA"/>
                </a:solidFill>
              </a:rPr>
              <a:t>Capstone Project  |  MIT World Peace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420624"/>
            <a:ext cx="54864" cy="40233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Conclusion &amp; Future Scope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224528" cy="3035808"/>
          </a:xfrm>
          <a:prstGeom prst="rect">
            <a:avLst/>
          </a:prstGeom>
          <a:solidFill>
            <a:srgbClr val="0F1A2E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4224528" cy="38404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960120"/>
            <a:ext cx="4224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D1A"/>
                </a:solidFill>
              </a:rPr>
              <a:t>KEY OUTCOMES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4264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</a:rPr>
              <a:t>Fills the gap between theoretical cybersecurity and practical incident response for women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</a:rPr>
              <a:t>Enables secure, anonymous reporting with full evidence integrity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41401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</a:rPr>
              <a:t>AI-assisted classification improves prioritization of high-risk incidents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9077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</a:rPr>
              <a:t>RBAC dashboard gives analysts a structured, efficient workflow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4015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</a:rPr>
              <a:t>Raises awareness of phishing &amp; social engineering attack vectors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960120"/>
            <a:ext cx="4023360" cy="3035808"/>
          </a:xfrm>
          <a:prstGeom prst="rect">
            <a:avLst/>
          </a:prstGeom>
          <a:solidFill>
            <a:srgbClr val="0F1A2E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73168" y="960120"/>
            <a:ext cx="402336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73168" y="960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0D1A"/>
                </a:solidFill>
              </a:rPr>
              <a:t>FUTURE SCOPE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01184" y="1426464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</a:rPr>
              <a:t>NLP-based AI model for deeper threat content 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01184" y="1920240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</a:rPr>
              <a:t>Multi-language support for broader accessibility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01184" y="2414016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</a:rPr>
              <a:t>Integration with national cybercrime portals (CERT-In)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01184" y="2907792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</a:rPr>
              <a:t>Mobile app for faster field reporting by victims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01184" y="3401568"/>
            <a:ext cx="3730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0C4D8"/>
                </a:solidFill>
              </a:rPr>
              <a:t>Real-time threat intelligence feed &amp; alert system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4114800"/>
            <a:ext cx="8449056" cy="603504"/>
          </a:xfrm>
          <a:prstGeom prst="rect">
            <a:avLst/>
          </a:prstGeom>
          <a:solidFill>
            <a:srgbClr val="001A2E"/>
          </a:solidFill>
          <a:ln w="254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D4D4"/>
                </a:solidFill>
              </a:rPr>
              <a:t>W-CERT: A privacy-preserving CERT solution — making the digital world safer for women.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988052"/>
            <a:ext cx="6400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AA"/>
                </a:solidFill>
              </a:rPr>
              <a:t>W-CERT  |  Women-Centric Cyber Emergency Response &amp; Threat-analysis Framework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00800" y="4988052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AA"/>
                </a:solidFill>
              </a:rPr>
              <a:t>Capstone Project  |  MIT World Peace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" y="420624"/>
            <a:ext cx="54864" cy="402336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Our Team — Group No. 6  |  Panel B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2048256" cy="2523744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2048256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115568"/>
            <a:ext cx="914400" cy="914400"/>
          </a:xfrm>
          <a:prstGeom prst="ellipse">
            <a:avLst/>
          </a:prstGeom>
          <a:solidFill>
            <a:srgbClr val="001A2E"/>
          </a:solidFill>
          <a:ln w="254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1155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D4"/>
                </a:solidFill>
              </a:rPr>
              <a:t>NV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" y="2139696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Nishinth Venkatesh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" y="2596896"/>
            <a:ext cx="1536192" cy="27432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" y="2596896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D1A"/>
                </a:solidFill>
              </a:rPr>
              <a:t>Lead Developer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294436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PRN: 1032220939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9551165281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23744" y="960120"/>
            <a:ext cx="2048256" cy="2523744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23744" y="960120"/>
            <a:ext cx="2048256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90672" y="1115568"/>
            <a:ext cx="914400" cy="914400"/>
          </a:xfrm>
          <a:prstGeom prst="ellipse">
            <a:avLst/>
          </a:prstGeom>
          <a:solidFill>
            <a:srgbClr val="001A2E"/>
          </a:solidFill>
          <a:ln w="254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90672" y="11155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D4"/>
                </a:solidFill>
              </a:rPr>
              <a:t>AD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15184" y="2139696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Ayush Dhore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79776" y="2596896"/>
            <a:ext cx="1536192" cy="27432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79776" y="2596896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D1A"/>
                </a:solidFill>
              </a:rPr>
              <a:t>Backend &amp; Security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15184" y="294436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PRN: 1032220255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7709571603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00016" y="960120"/>
            <a:ext cx="2048256" cy="2523744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0016" y="960120"/>
            <a:ext cx="2048256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66944" y="1115568"/>
            <a:ext cx="914400" cy="914400"/>
          </a:xfrm>
          <a:prstGeom prst="ellipse">
            <a:avLst/>
          </a:prstGeom>
          <a:solidFill>
            <a:srgbClr val="001A2E"/>
          </a:solidFill>
          <a:ln w="254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66944" y="11155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D4"/>
                </a:solidFill>
              </a:rPr>
              <a:t>NK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91456" y="2139696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Neel Karnavat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56048" y="2596896"/>
            <a:ext cx="1536192" cy="27432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56048" y="2596896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D1A"/>
                </a:solidFill>
              </a:rPr>
              <a:t>Frontend &amp; UI/UX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91456" y="294436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PRN: 1032220469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7020107558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76288" y="960120"/>
            <a:ext cx="2048256" cy="2514600"/>
          </a:xfrm>
          <a:prstGeom prst="rect">
            <a:avLst/>
          </a:prstGeom>
          <a:solidFill>
            <a:srgbClr val="0F1A2E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76288" y="960120"/>
            <a:ext cx="2048256" cy="64008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43216" y="1115568"/>
            <a:ext cx="914400" cy="914400"/>
          </a:xfrm>
          <a:prstGeom prst="ellipse">
            <a:avLst/>
          </a:prstGeom>
          <a:solidFill>
            <a:srgbClr val="001A2E"/>
          </a:solidFill>
          <a:ln w="254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43216" y="11155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D4"/>
                </a:solidFill>
              </a:rPr>
              <a:t>SP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967728" y="2139696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Sarthak Paymode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32320" y="2596896"/>
            <a:ext cx="1536192" cy="27432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32320" y="2596896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0D1A"/>
                </a:solidFill>
              </a:rPr>
              <a:t>Analysis &amp; Testing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67728" y="2944368"/>
            <a:ext cx="18653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PRN: 1032220213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</a:rPr>
              <a:t>9960009018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3590" y="3819378"/>
            <a:ext cx="8449056" cy="42062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5488" y="3797574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0C4D8"/>
                </a:solidFill>
              </a:rPr>
              <a:t>Department of Computer Engineering &amp; Technology  |  MIT World Peace University, Pune  </a:t>
            </a:r>
            <a:endParaRPr lang="en-US" sz="1000" b="1" dirty="0"/>
          </a:p>
        </p:txBody>
      </p:sp>
      <p:sp>
        <p:nvSpPr>
          <p:cNvPr id="39" name="Shape 3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4988052"/>
            <a:ext cx="6400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899AA"/>
                </a:solidFill>
              </a:rPr>
              <a:t>W-CERT  |  Women-Centric Cyber Emergency Response &amp; Threat-analysis Framework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00800" y="4988052"/>
            <a:ext cx="2560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9AA"/>
                </a:solidFill>
              </a:rPr>
              <a:t>Capstone Project  |  MIT World Peace University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D4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28300" y="713232"/>
            <a:ext cx="2687400" cy="1371600"/>
          </a:xfrm>
          <a:prstGeom prst="rect">
            <a:avLst/>
          </a:prstGeom>
          <a:solidFill>
            <a:srgbClr val="001A2E"/>
          </a:solidFill>
          <a:ln w="381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185100" y="749808"/>
            <a:ext cx="2773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D4D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W-CERT</a:t>
            </a:r>
            <a:endParaRPr lang="en-US" sz="4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08483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0D4D4"/>
                </a:solidFill>
              </a:rPr>
              <a:t>DETECT.    DEFEND.    EMPOWER.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3520440"/>
            <a:ext cx="4572000" cy="27432"/>
          </a:xfrm>
          <a:prstGeom prst="rect">
            <a:avLst/>
          </a:prstGeom>
          <a:solidFill>
            <a:srgbClr val="1A2E48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A"/>
                </a:solidFill>
              </a:rPr>
              <a:t>W-CERT — Women-Centric Cyber Emergency Response &amp; Threat-analysis Framework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4069080"/>
            <a:ext cx="6400800" cy="566928"/>
          </a:xfrm>
          <a:prstGeom prst="rect">
            <a:avLst/>
          </a:prstGeom>
          <a:solidFill>
            <a:srgbClr val="001A2E"/>
          </a:solidFill>
          <a:ln w="12700">
            <a:solidFill>
              <a:srgbClr val="00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406908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D4"/>
                </a:solidFill>
              </a:rPr>
              <a:t>Open for Questions &amp; Discussion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C1525"/>
          </a:solidFill>
          <a:ln w="12700">
            <a:solidFill>
              <a:srgbClr val="1A2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4988052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899AA"/>
                </a:solidFill>
              </a:rPr>
              <a:t>Group No. 6  |  Panel B  |  MIT World Peace University  |  2025–26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1414</Words>
  <Application>Microsoft Office PowerPoint</Application>
  <PresentationFormat>On-screen Show (16:9)</PresentationFormat>
  <Paragraphs>300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ADLaM Display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W-CERT Capstone Project</dc:title>
  <dc:subject>PptxGenJS Presentation</dc:subject>
  <dc:creator>PptxGenJS</dc:creator>
  <cp:lastModifiedBy>Nishinth Venkatesh</cp:lastModifiedBy>
  <cp:revision>3</cp:revision>
  <dcterms:created xsi:type="dcterms:W3CDTF">2026-03-23T07:59:38Z</dcterms:created>
  <dcterms:modified xsi:type="dcterms:W3CDTF">2026-03-23T08:27:00Z</dcterms:modified>
</cp:coreProperties>
</file>